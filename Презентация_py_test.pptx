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3" r:id="rId7"/>
    <p:sldId id="268" r:id="rId8"/>
    <p:sldId id="260" r:id="rId9"/>
    <p:sldId id="262" r:id="rId10"/>
    <p:sldId id="269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3973B-9168-40B4-947C-95F4D69483F7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48771-59F2-496F-8068-2B51B77A7F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41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48771-59F2-496F-8068-2B51B77A7F1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218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48771-59F2-496F-8068-2B51B77A7F1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31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36569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74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5787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67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71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86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6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552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943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61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78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F15E591-4178-4C51-BBB0-3264B2D91E42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C078AE9-357C-4CA1-A17F-F812626DC99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24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69429" y="1849711"/>
            <a:ext cx="4499950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0" dirty="0" err="1" smtClean="0">
                <a:solidFill>
                  <a:schemeClr val="tx2">
                    <a:lumMod val="50000"/>
                  </a:schemeClr>
                </a:solidFill>
                <a:latin typeface="Berlin Sans FB Demi" panose="020E0802020502020306" pitchFamily="34" charset="0"/>
              </a:rPr>
              <a:t>Pytest</a:t>
            </a:r>
            <a:endParaRPr lang="ru-RU" sz="1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21602" y="4657475"/>
            <a:ext cx="41956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участники</a:t>
            </a: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:</a:t>
            </a:r>
            <a:r>
              <a:rPr lang="ru-RU" sz="2000" b="1" dirty="0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РПО 3 </a:t>
            </a:r>
          </a:p>
          <a:p>
            <a:pPr algn="ctr"/>
            <a:r>
              <a:rPr lang="ru-RU" sz="1600" dirty="0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Гринько Мария</a:t>
            </a:r>
          </a:p>
          <a:p>
            <a:pPr algn="ctr"/>
            <a:r>
              <a:rPr lang="ru-RU" sz="1600" dirty="0" err="1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Станчинская</a:t>
            </a:r>
            <a:r>
              <a:rPr lang="ru-RU" sz="1600" dirty="0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Соня</a:t>
            </a:r>
          </a:p>
          <a:p>
            <a:pPr algn="ctr"/>
            <a:r>
              <a:rPr lang="ru-RU" sz="1600" dirty="0" err="1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Кошина</a:t>
            </a:r>
            <a:r>
              <a:rPr lang="ru-RU" sz="1600" dirty="0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Александра</a:t>
            </a:r>
          </a:p>
          <a:p>
            <a:pPr algn="ctr"/>
            <a:r>
              <a:rPr lang="ru-RU" sz="1600" dirty="0" smtClean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Геращенко Ксения</a:t>
            </a:r>
          </a:p>
        </p:txBody>
      </p:sp>
    </p:spTree>
    <p:extLst>
      <p:ext uri="{BB962C8B-B14F-4D97-AF65-F5344CB8AC3E}">
        <p14:creationId xmlns:p14="http://schemas.microsoft.com/office/powerpoint/2010/main" val="33135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97541" y="532414"/>
            <a:ext cx="65517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О</a:t>
            </a:r>
            <a:r>
              <a:rPr lang="ru-RU" sz="48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бщие сведения</a:t>
            </a:r>
            <a:endParaRPr lang="ru-RU" sz="48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554011" y="1617682"/>
            <a:ext cx="646332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P</a:t>
            </a:r>
            <a:r>
              <a:rPr lang="ru-RU" sz="3600" b="1" dirty="0" err="1" smtClean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ytest</a:t>
            </a:r>
            <a:r>
              <a:rPr lang="ru-RU" sz="3600" b="1" dirty="0" smtClean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— </a:t>
            </a:r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</a:rPr>
              <a:t>это </a:t>
            </a:r>
            <a:r>
              <a:rPr lang="ru-RU" sz="2400" b="1" dirty="0" smtClean="0">
                <a:solidFill>
                  <a:schemeClr val="tx2">
                    <a:lumMod val="50000"/>
                  </a:schemeClr>
                </a:solidFill>
              </a:rPr>
              <a:t>самый популярный </a:t>
            </a:r>
            <a:r>
              <a:rPr lang="ru-RU" sz="2400" dirty="0" err="1" smtClean="0">
                <a:solidFill>
                  <a:schemeClr val="tx2">
                    <a:lumMod val="50000"/>
                  </a:schemeClr>
                </a:solidFill>
              </a:rPr>
              <a:t>фреймворк</a:t>
            </a:r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</a:rPr>
              <a:t> для тестирования на </a:t>
            </a:r>
            <a:r>
              <a:rPr lang="ru-RU" sz="2400" dirty="0" err="1" smtClean="0">
                <a:solidFill>
                  <a:schemeClr val="tx2">
                    <a:lumMod val="50000"/>
                  </a:schemeClr>
                </a:solidFill>
              </a:rPr>
              <a:t>Python</a:t>
            </a:r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</a:rPr>
              <a:t>, появился в 2005 году </a:t>
            </a:r>
          </a:p>
        </p:txBody>
      </p:sp>
      <p:pic>
        <p:nvPicPr>
          <p:cNvPr id="7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577" y="1751265"/>
            <a:ext cx="3011368" cy="301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1399770" y="3655860"/>
            <a:ext cx="1691338" cy="1754326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Поддерживаемые языки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: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/>
            </a:r>
            <a:br>
              <a:rPr lang="ru-RU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Python</a:t>
            </a:r>
          </a:p>
          <a:p>
            <a:pPr algn="ctr"/>
            <a:endParaRPr lang="en-US" dirty="0" smtClean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/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ru-RU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091108" y="3655860"/>
            <a:ext cx="2507943" cy="1754326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Поддерживаемые платформы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ОС)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: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/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Windows</a:t>
            </a:r>
            <a:br>
              <a:rPr lang="en-US" dirty="0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macOS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/>
            </a:r>
            <a:br>
              <a:rPr lang="en-US" dirty="0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Linux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/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ru-RU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417039" y="3655860"/>
            <a:ext cx="2754538" cy="1754326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Поддерживаемые версии 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python: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/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все современные и актуальные версии </a:t>
            </a:r>
            <a:r>
              <a:rPr lang="ru-RU" b="1" dirty="0" err="1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Python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 3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/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ru-RU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V="1">
            <a:off x="1399770" y="3256949"/>
            <a:ext cx="6771807" cy="4816"/>
          </a:xfrm>
          <a:prstGeom prst="lin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23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65668" y="468436"/>
            <a:ext cx="493917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Актуальность</a:t>
            </a:r>
            <a:endParaRPr lang="ru-RU" sz="48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55425" y="1689188"/>
            <a:ext cx="46920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Статистика переходов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В исследованиях описано более 900 случаев перехода с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unittest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 на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017845" y="1661397"/>
            <a:ext cx="496276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Поддержка сообществом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Более 1100+ активных разработчиков (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контрибьюторов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) на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GitHub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свыше 1300 плагинов. 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46091" y="3648139"/>
            <a:ext cx="46345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Частота обновлений</a:t>
            </a:r>
            <a:endParaRPr lang="ru-RU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исправления багов и обновления выходят почти каждый месяц.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255425" y="3662124"/>
            <a:ext cx="514537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Популярность в индустрии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lumMod val="50000"/>
                  </a:schemeClr>
                </a:solidFill>
              </a:rPr>
              <a:t>P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ytest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 применяется в таких гигантах, как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Django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Flask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, проектах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Mozilla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Dropbox</a:t>
            </a:r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88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21032" y="585518"/>
            <a:ext cx="77203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Возможности и функционал</a:t>
            </a:r>
            <a:endParaRPr lang="ru-RU" sz="36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432" y="5295916"/>
            <a:ext cx="4350970" cy="795028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1549368" y="1345173"/>
            <a:ext cx="8868539" cy="3724096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Ассерты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 </a:t>
            </a:r>
            <a:r>
              <a:rPr lang="ru-RU" sz="1600" dirty="0">
                <a:solidFill>
                  <a:schemeClr val="tx2">
                    <a:lumMod val="50000"/>
                  </a:schemeClr>
                </a:solidFill>
              </a:rPr>
              <a:t>п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ростые проверки через ключевое слово </a:t>
            </a:r>
            <a:r>
              <a:rPr lang="ru-RU" sz="1600" dirty="0" err="1" smtClean="0">
                <a:solidFill>
                  <a:schemeClr val="tx2">
                    <a:lumMod val="50000"/>
                  </a:schemeClr>
                </a:solidFill>
              </a:rPr>
              <a:t>assert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 вместо сложных встроенных методов.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Фикстуры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 </a:t>
            </a:r>
            <a:r>
              <a:rPr lang="ru-RU" sz="1600" dirty="0">
                <a:solidFill>
                  <a:schemeClr val="tx2">
                    <a:lumMod val="50000"/>
                  </a:schemeClr>
                </a:solidFill>
              </a:rPr>
              <a:t>с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пециальные функции, которые заранее готовят всё нужное для теста</a:t>
            </a:r>
            <a:endParaRPr lang="en-US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ru-RU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err="1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Моки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 </a:t>
            </a:r>
            <a:r>
              <a:rPr lang="ru-RU" sz="1600" dirty="0">
                <a:solidFill>
                  <a:schemeClr val="tx2">
                    <a:lumMod val="50000"/>
                  </a:schemeClr>
                </a:solidFill>
              </a:rPr>
              <a:t>с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оздание фальшивых объектов-заглушек для безопасной симуляции работы кода</a:t>
            </a:r>
            <a:endParaRPr lang="en-US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Отчёты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</a:t>
            </a: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1600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 сам собирает подробные отчёты обо всех проверках в удобном виде</a:t>
            </a:r>
            <a:endParaRPr lang="en-US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CI/CD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</a:t>
            </a: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л</a:t>
            </a:r>
            <a:r>
              <a:rPr lang="ru-RU" sz="1600" dirty="0">
                <a:solidFill>
                  <a:schemeClr val="tx2">
                    <a:lumMod val="50000"/>
                  </a:schemeClr>
                </a:solidFill>
              </a:rPr>
              <a:t>е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гкая интеграция с системами автоматизации</a:t>
            </a: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</a:br>
            <a:endParaRPr lang="en-US" sz="1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Параметризация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 </a:t>
            </a:r>
            <a:r>
              <a:rPr lang="ru-RU" sz="1600" dirty="0">
                <a:solidFill>
                  <a:schemeClr val="tx2">
                    <a:lumMod val="50000"/>
                  </a:schemeClr>
                </a:solidFill>
              </a:rPr>
              <a:t>п</a:t>
            </a:r>
            <a:r>
              <a:rPr lang="ru-RU" sz="1600" dirty="0" smtClean="0">
                <a:solidFill>
                  <a:schemeClr val="tx2">
                    <a:lumMod val="50000"/>
                  </a:schemeClr>
                </a:solidFill>
              </a:rPr>
              <a:t>озволяет запустить один и тот же тест много раз с разными наборами данных</a:t>
            </a:r>
            <a:endParaRPr lang="ru-RU" sz="16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00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45056" y="510559"/>
            <a:ext cx="629371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Плюсы и минусы</a:t>
            </a:r>
            <a:endParaRPr lang="ru-RU" sz="48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575640" y="1404169"/>
            <a:ext cx="40513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u="none" strike="noStrike" dirty="0" smtClean="0">
                <a:solidFill>
                  <a:schemeClr val="bg2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Плюсы</a:t>
            </a:r>
            <a:r>
              <a:rPr lang="en-US" sz="2400" b="1" u="none" strike="noStrike" dirty="0" smtClean="0">
                <a:solidFill>
                  <a:schemeClr val="bg2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: </a:t>
            </a:r>
            <a:endParaRPr lang="ru-RU" sz="2400" b="1" u="none" strike="noStrike" dirty="0" smtClean="0">
              <a:solidFill>
                <a:schemeClr val="bg2">
                  <a:lumMod val="50000"/>
                </a:schemeClr>
              </a:solidFill>
              <a:effectLst/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Меньше лишнего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</a:rPr>
              <a:t>Н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аглядный вывод ошибок, автоматизация через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фикстуры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 и параметризацию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Лёгкая интеграция с CI/CD и IDE.</a:t>
            </a:r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28403" y="1385848"/>
            <a:ext cx="49333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u="none" strike="noStrike" dirty="0" smtClean="0">
                <a:solidFill>
                  <a:schemeClr val="bg2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Минусы:</a:t>
            </a:r>
            <a:r>
              <a:rPr lang="ru-RU" sz="24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Не входит в стандартную библиотеку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Python</a:t>
            </a:r>
            <a:endParaRPr lang="ru-RU" sz="20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</a:rPr>
              <a:t>Е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сли писать простые тесты легко, то для настройки продвинутых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фич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 и плагинов нужно хорошо разбираться в экосистеме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</a:rPr>
              <a:t>Python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465" y="3895224"/>
            <a:ext cx="6410427" cy="1545008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</p:pic>
    </p:spTree>
    <p:extLst>
      <p:ext uri="{BB962C8B-B14F-4D97-AF65-F5344CB8AC3E}">
        <p14:creationId xmlns:p14="http://schemas.microsoft.com/office/powerpoint/2010/main" val="202703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52870" y="557215"/>
            <a:ext cx="70727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ru-RU" sz="4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использования</a:t>
            </a:r>
            <a:endParaRPr lang="ru-RU" sz="40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r="16518"/>
          <a:stretch/>
        </p:blipFill>
        <p:spPr>
          <a:xfrm>
            <a:off x="7068008" y="1909504"/>
            <a:ext cx="3811007" cy="297120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874" y="1355420"/>
            <a:ext cx="5417993" cy="373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4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07578" y="499481"/>
            <a:ext cx="70727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Пример использования</a:t>
            </a:r>
            <a:endParaRPr lang="ru-RU" sz="40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068" y="1290131"/>
            <a:ext cx="7415963" cy="238592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45" y="3841588"/>
            <a:ext cx="7250309" cy="166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0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82532" y="558963"/>
            <a:ext cx="71994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Сравнение с аналогами</a:t>
            </a:r>
            <a:endParaRPr lang="ru-RU" sz="40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753" y="3793944"/>
            <a:ext cx="4287642" cy="181866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235" y="3793944"/>
            <a:ext cx="4155657" cy="200769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479234" y="1322494"/>
            <a:ext cx="89699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50000"/>
                  </a:schemeClr>
                </a:solidFill>
                <a:latin typeface="+mj-lt"/>
              </a:rPr>
              <a:t>Основные альтернативы в </a:t>
            </a:r>
            <a:r>
              <a:rPr lang="ru-RU" sz="2000" b="1" dirty="0" err="1" smtClean="0">
                <a:solidFill>
                  <a:schemeClr val="tx2">
                    <a:lumMod val="50000"/>
                  </a:schemeClr>
                </a:solidFill>
                <a:latin typeface="+mj-lt"/>
              </a:rPr>
              <a:t>Python</a:t>
            </a:r>
            <a:r>
              <a:rPr lang="ru-RU" sz="2000" b="1" dirty="0" smtClean="0">
                <a:solidFill>
                  <a:schemeClr val="tx2">
                    <a:lumMod val="50000"/>
                  </a:schemeClr>
                </a:solidFill>
                <a:latin typeface="+mj-lt"/>
              </a:rPr>
              <a:t>: </a:t>
            </a:r>
            <a:r>
              <a:rPr lang="ru-RU" sz="20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Стандартный модуль </a:t>
            </a:r>
            <a:r>
              <a:rPr lang="ru-RU" sz="2000" dirty="0" err="1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unittest</a:t>
            </a:r>
            <a:endParaRPr lang="ru-RU" sz="200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479234" y="1784140"/>
            <a:ext cx="479651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Отличие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+mj-lt"/>
              </a:rPr>
              <a:t/>
            </a:r>
            <a:br>
              <a:rPr lang="en-US" dirty="0" smtClean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unittest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нужно строить громоздкие классы, наследоваться от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TestCase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писать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self.assertEqual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В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тест — это обычная короткая функция с оператором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assert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865067" y="1790031"/>
            <a:ext cx="420668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Преимущества:</a:t>
            </a:r>
          </a:p>
          <a:p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Сокращение объёма кода более чем в 2 раза.</a:t>
            </a:r>
          </a:p>
          <a:p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При падении теста 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сам раскладывает значения переменных в терминале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  <a:latin typeface="+mj-lt"/>
              </a:rPr>
              <a:t>.</a:t>
            </a:r>
          </a:p>
          <a:p>
            <a:endParaRPr lang="ru-RU" dirty="0">
              <a:solidFill>
                <a:schemeClr val="tx2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612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98163" y="551761"/>
            <a:ext cx="75793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Установка и настройка</a:t>
            </a:r>
            <a:endParaRPr lang="ru-RU" sz="44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9" name="Прямоугольник 68"/>
          <p:cNvSpPr/>
          <p:nvPr/>
        </p:nvSpPr>
        <p:spPr>
          <a:xfrm>
            <a:off x="1626679" y="1837447"/>
            <a:ext cx="539153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Установка </a:t>
            </a:r>
            <a:r>
              <a:rPr lang="ru-RU" sz="2000" dirty="0" err="1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фреймворка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:</a:t>
            </a:r>
          </a:p>
          <a:p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Устанавливается отдельно в изолированное окружение проекта стандартной командой: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pip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install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70" name="Рисунок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017" y="3584799"/>
            <a:ext cx="4944165" cy="1105054"/>
          </a:xfrm>
          <a:prstGeom prst="rect">
            <a:avLst/>
          </a:prstGeom>
        </p:spPr>
      </p:pic>
      <p:sp>
        <p:nvSpPr>
          <p:cNvPr id="72" name="Прямоугольник 71"/>
          <p:cNvSpPr/>
          <p:nvPr/>
        </p:nvSpPr>
        <p:spPr>
          <a:xfrm>
            <a:off x="7018214" y="1837447"/>
            <a:ext cx="378264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Подключение к проекту: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автоматически находит файлы тестов в папках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Для простых проверок (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assert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) импорт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фреймворка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в коде не требуется. Строка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import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пишется только тогда, когда нужно подключить встроенные инструменты (например, @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pytest.fixture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).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19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20010" y="541585"/>
            <a:ext cx="68964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Установка и настройка</a:t>
            </a:r>
            <a:endParaRPr lang="ru-RU" sz="40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3" name="Прямоугольник 72"/>
          <p:cNvSpPr/>
          <p:nvPr/>
        </p:nvSpPr>
        <p:spPr>
          <a:xfrm>
            <a:off x="1526336" y="1427370"/>
            <a:ext cx="793809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Минимальная конфигурация (pytest.ini):</a:t>
            </a:r>
          </a:p>
          <a:p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Настройка осуществляется через файл pytest.ini в корне проекта. Он задаёт правила запуска по умолчанию.</a:t>
            </a:r>
          </a:p>
        </p:txBody>
      </p:sp>
      <p:pic>
        <p:nvPicPr>
          <p:cNvPr id="76" name="Рисунок 75"/>
          <p:cNvPicPr>
            <a:picLocks noChangeAspect="1"/>
          </p:cNvPicPr>
          <p:nvPr/>
        </p:nvPicPr>
        <p:blipFill rotWithShape="1">
          <a:blip r:embed="rId3"/>
          <a:srcRect r="7684"/>
          <a:stretch/>
        </p:blipFill>
        <p:spPr>
          <a:xfrm>
            <a:off x="1526336" y="2825187"/>
            <a:ext cx="6041299" cy="2955439"/>
          </a:xfrm>
          <a:prstGeom prst="rect">
            <a:avLst/>
          </a:prstGeom>
        </p:spPr>
      </p:pic>
      <p:pic>
        <p:nvPicPr>
          <p:cNvPr id="78" name="Рисунок 77"/>
          <p:cNvPicPr>
            <a:picLocks noChangeAspect="1"/>
          </p:cNvPicPr>
          <p:nvPr/>
        </p:nvPicPr>
        <p:blipFill rotWithShape="1">
          <a:blip r:embed="rId4"/>
          <a:srcRect l="135" r="50072"/>
          <a:stretch/>
        </p:blipFill>
        <p:spPr>
          <a:xfrm>
            <a:off x="7763013" y="3029442"/>
            <a:ext cx="3067323" cy="214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4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13794" y="445154"/>
            <a:ext cx="69140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Кейсы из практики</a:t>
            </a:r>
            <a:endParaRPr lang="ru-RU" sz="48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64140" y="1276151"/>
            <a:ext cx="9200845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b="1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ru-RU" sz="2000" b="1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Веб-разработка и </a:t>
            </a:r>
            <a:r>
              <a:rPr lang="ru-RU" sz="2000" b="1" dirty="0" err="1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фреймворки</a:t>
            </a:r>
            <a:r>
              <a:rPr lang="ru-RU" sz="2000" b="1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1" dirty="0" err="1" smtClean="0">
                <a:solidFill>
                  <a:schemeClr val="tx2">
                    <a:lumMod val="50000"/>
                  </a:schemeClr>
                </a:solidFill>
              </a:rPr>
              <a:t>Django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— самый популярный и тяжелый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фреймворк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для создания крупных сайтов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1" dirty="0" err="1" smtClean="0">
                <a:solidFill>
                  <a:schemeClr val="tx2">
                    <a:lumMod val="50000"/>
                  </a:schemeClr>
                </a:solidFill>
              </a:rPr>
              <a:t>Flask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— главный инструмент для создания быстрых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микросервисов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и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ru-RU" sz="2000" b="1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Крупные международные IT-гиганты: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1" dirty="0" err="1" smtClean="0">
                <a:solidFill>
                  <a:schemeClr val="tx2">
                    <a:lumMod val="50000"/>
                  </a:schemeClr>
                </a:solidFill>
              </a:rPr>
              <a:t>Mozilla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— использует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для тестирования компонентов браузера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Firefox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1" dirty="0" err="1" smtClean="0">
                <a:solidFill>
                  <a:schemeClr val="tx2">
                    <a:lumMod val="50000"/>
                  </a:schemeClr>
                </a:solidFill>
              </a:rPr>
              <a:t>Dropbox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— облачное хранилище, в котором миллионы строк кода на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Python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проверяются через экосистему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endParaRPr lang="ru-RU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ru-RU" sz="2000" b="1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Популярные библиотеки: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1" dirty="0" err="1" smtClean="0">
                <a:solidFill>
                  <a:schemeClr val="tx2">
                    <a:lumMod val="50000"/>
                  </a:schemeClr>
                </a:solidFill>
              </a:rPr>
              <a:t>Requests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— самая скачиваемая библиотека в мире для отправки сетевых запросов. Её тесты целиком написаны на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pytest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07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12893" y="1383323"/>
            <a:ext cx="9131661" cy="4009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4137241" y="533769"/>
            <a:ext cx="68788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Перспективы развития</a:t>
            </a:r>
            <a:endParaRPr lang="ru-RU" sz="40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47354" y="1813594"/>
            <a:ext cx="498019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Долгосрочная актуальность: </a:t>
            </a:r>
          </a:p>
          <a:p>
            <a:endParaRPr lang="ru-RU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Обусловлена тем, что </a:t>
            </a:r>
            <a:r>
              <a:rPr lang="ru-RU" dirty="0" err="1" smtClean="0">
                <a:solidFill>
                  <a:schemeClr val="tx2">
                    <a:lumMod val="50000"/>
                  </a:schemeClr>
                </a:solidFill>
              </a:rPr>
              <a:t>Python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сейчас является 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главным языком 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в мире машинного обучения и работы с большими данными</a:t>
            </a:r>
          </a:p>
          <a:p>
            <a:endParaRPr lang="ru-RU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chemeClr val="bg2">
                    <a:lumMod val="50000"/>
                  </a:schemeClr>
                </a:solidFill>
              </a:rPr>
              <a:t>pytest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на 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сегодняшний день остаётся 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основным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 инструментом автоматизации 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тестирования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524350" y="1841231"/>
            <a:ext cx="392997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Поддержка новых технологий:</a:t>
            </a:r>
          </a:p>
          <a:p>
            <a:endParaRPr lang="ru-RU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Фреймворк активно развивается и полностью 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поддерживает современные стандарты асинхронного программирования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, без которых сегодня 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не</a:t>
            </a:r>
            <a:r>
              <a:rPr lang="ru-RU" dirty="0" smtClean="0">
                <a:solidFill>
                  <a:schemeClr val="tx2">
                    <a:lumMod val="50000"/>
                  </a:schemeClr>
                </a:solidFill>
              </a:rPr>
              <a:t> обходится ни один быстрый сервис.</a:t>
            </a:r>
          </a:p>
        </p:txBody>
      </p:sp>
    </p:spTree>
    <p:extLst>
      <p:ext uri="{BB962C8B-B14F-4D97-AF65-F5344CB8AC3E}">
        <p14:creationId xmlns:p14="http://schemas.microsoft.com/office/powerpoint/2010/main" val="337603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62286" y="502508"/>
            <a:ext cx="455605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Заключение</a:t>
            </a:r>
            <a:endParaRPr lang="ru-RU" sz="48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11209" y="1669184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Итоги и рекомендации</a:t>
            </a:r>
          </a:p>
          <a:p>
            <a:endParaRPr lang="ru-RU" sz="20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bg2">
                    <a:lumMod val="50000"/>
                  </a:schemeClr>
                </a:solidFill>
              </a:rPr>
              <a:t>Фреймворк </a:t>
            </a:r>
            <a:r>
              <a:rPr lang="ru-RU" sz="2000" dirty="0" err="1" smtClean="0">
                <a:solidFill>
                  <a:schemeClr val="bg2">
                    <a:lumMod val="50000"/>
                  </a:schemeClr>
                </a:solidFill>
              </a:rPr>
              <a:t>pytest</a:t>
            </a:r>
            <a:r>
              <a:rPr lang="ru-RU" sz="20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— это современный, быстрый и удобный инструмент тестирования, который полностью убирает лишний шаблонный код и бюрократию из процесса разработки ПО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bg2">
                    <a:lumMod val="50000"/>
                  </a:schemeClr>
                </a:solidFill>
              </a:rPr>
              <a:t>Для новых проектов на </a:t>
            </a:r>
            <a:r>
              <a:rPr lang="ru-RU" sz="2000" dirty="0" err="1" smtClean="0">
                <a:solidFill>
                  <a:schemeClr val="bg2">
                    <a:lumMod val="50000"/>
                  </a:schemeClr>
                </a:solidFill>
              </a:rPr>
              <a:t>Python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</a:rPr>
              <a:t>: однозначный и оптимальный выбор с самого старта проекта для экономии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36435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25578" y="549092"/>
            <a:ext cx="784853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Спасибо за внимание</a:t>
            </a:r>
            <a:endParaRPr lang="ru-RU" sz="4400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zmeik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48362" y="1543712"/>
            <a:ext cx="3750686" cy="366914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78770" y="2813810"/>
            <a:ext cx="496761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Готовы ответить на ваши вопросы   :3</a:t>
            </a:r>
            <a:endParaRPr lang="ru-RU" sz="4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2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296</TotalTime>
  <Words>492</Words>
  <Application>Microsoft Office PowerPoint</Application>
  <PresentationFormat>Широкоэкранный</PresentationFormat>
  <Paragraphs>86</Paragraphs>
  <Slides>14</Slides>
  <Notes>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Berlin Sans FB Demi</vt:lpstr>
      <vt:lpstr>Calibri</vt:lpstr>
      <vt:lpstr>Century Gothic</vt:lpstr>
      <vt:lpstr>Franklin Gothic Book</vt:lpstr>
      <vt:lpstr>Wingdings</vt:lpstr>
      <vt:lpstr>Crop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Соня</dc:creator>
  <cp:lastModifiedBy>Учетная запись Майкрософт</cp:lastModifiedBy>
  <cp:revision>55</cp:revision>
  <dcterms:created xsi:type="dcterms:W3CDTF">2026-09-26T14:01:02Z</dcterms:created>
  <dcterms:modified xsi:type="dcterms:W3CDTF">2026-09-27T15:31:03Z</dcterms:modified>
</cp:coreProperties>
</file>